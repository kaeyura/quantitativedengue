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binary to how much — a project about turning a dengue test that answers yes-or-no into one that answers the question that actually helps a patient: how much, and which way are they heading?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scale. Dengue infects around 390 million people a year, there's no drug, and surviving one serotype doesn't protect you from the rest. So medicine can't cure a patient — a clinician can only watch and react. Luckily the virus gives us something to watch: cells shed a protein, NS1, into the blood early, and its level rises as infection takes hold and falls as the patient recovers. So NS1 tells you which way the illness is going.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reading that signal is the whole problem. The test you can carry gives one bit — is NS1 there, yes or no? What you actually want is the number, measured more than once: positive on day two and again on day five tells you nothing new. The amount shows whether someone's turning the corner. And measuring it isn't hard — it just isn't portable. It lives on a plate reader in a hospital, where most patients can't reach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we weren't the first to want this. Quantitative NS1 tests already exist — they're just tethered to that lab. And protein switches, molecules that recognise a target and report it in one step, are proven. So our gap sits between the two: could you design, from scratch, a switch for NS1 that does the lab's job but is small enough to carry?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one idea everything rests on. A switch is two binders plus a reporter split in half. On their own, the halves are dark. But when both binders grab the same antigen at once, they drag the halves together and it lights up. A little antigen, a little light; a lot, a lot. That proportionality is what turns a yes-or-no molecule into a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build it? For the binders, we designed de novo — inventing proteins from scratch, with the Baker lab's tools — rather than raising antibodies, which are slow and hard to aim. That buys control: we pick the exact patch and steer away from the risky tip. The pipeline runs in three stages — a backbone, then a sequence, then a structure check — all on one fixed setup, used identically on designs and controls.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controls are the heart of this talk, because they're the part a design project usually skips. Before trusting our scoring filter, we asked whether it could rank things we already knew. We gave it a real antibody — with a crystal structure, so there's no argument it binds — and a decoy with no business touching NS1. If the filter works, this is easy: the binder passes, the decoy fails.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did the exact opposite. The real antibody placed 18 to 20 of its 20 known contacts every seed — and our filter failed it every time. The decoy that touches nothing sailed through three times in five. Across fifteen predictions, the better a thing bound, the worse our score rated it. It wasn't noisy — it was running backwards. And we only caught it because we'd checked against a known answer. So we re-ranked everything on measured 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wasn't a one-off. Three more failures had the same shape — invisible in the metrics, caught only by a control. Designs built against a cropped target looked spectacular, until we tested them on the full protein: zero of thirty-two could physically fit. And a second antibody was placed completely off its own epitope — zero of sixteen residues — with full confidence, in all ten runs. The lesson kept repeating: confidence is not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left standing? Two designs. The first grips the conserved patch in all five runs, with three residues in the contact every single time — repeatability that makes it real, not lucky. The second lands on a different face, and sixteen of its nineteen positions are identical across all four serotypes, so a test on it could work against all of them. But these are characterised candidates, not validated binders — we haven't put them in a test tube, and that honesty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was question two — can two binders share the antigen? The clearest yes in the report. In twenty-two of twenty-five tries, both settle onto NS1 without colliding, with room for the reporter halves. And notice how we know: we didn't predict it, we measured it off the structures, like a ruler — the spacing even tells you how long to make the linkers. Because it's geometry, not a score, it survives even though that score let us 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that leave us? One qualified yes, one clear yes, one honest no — no converged pose yet, and I won't dress that up. But the interesting idea is testable. Antibody tests struggle in severe repeat infections, because the patient's own antibodies hide the antigen. Ours are aimed off that surface by design — so they might keep working exactly where today's tests fail.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word on trust, because it varies. The geometry I'd stake a lot on — atoms don't care what a confidence score says. The binders are the shakiest, because they're characterised, not tested. And the calibration finding is the sturdiest thing here. Which points past dengue: a model's confidence is not the same as being right. If you can find one place you already know the answer, check there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next? A wet lab can take from us today a complete package — the harness, the calibration that proves it works, and the two binder arms — plus the cheapest experiment that could prove us wrong: seeing whether the arms bind NS1. We've had steady input from Baker lab PhD students throughout. The next steps need no partner: build the switch, re-run controls on a second predictor. Then a wet-lab screen — and we're reaching out to labs across India, and to FIND and the WHO.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where we are. A test you can carry today tells a patient whether they're infected. We're designing the one that tells them whether they're getting better, or worse. The molecules are designed. The next step is to build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pic>
        <p:nvPicPr>
          <p:cNvPr id="2" name="Picture 1" descr="v2f99e727_fig_structur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F2A43">
              <a:alpha val="6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362895" cy="1554480"/>
          </a:xfrm>
          <a:prstGeom prst="rect">
            <a:avLst/>
          </a:prstGeom>
          <a:noFill/>
        </p:spPr>
        <p:txBody>
          <a:bodyPr wrap="square">
            <a:spAutoFit/>
          </a:bodyPr>
          <a:lstStyle/>
          <a:p>
            <a:pPr algn="l"/>
            <a:r>
              <a:rPr sz="4600" b="1" i="0">
                <a:solidFill>
                  <a:srgbClr val="FFFFFF"/>
                </a:solidFill>
                <a:latin typeface="Calibri"/>
              </a:rPr>
              <a:t>From Binary to How Much</a:t>
            </a:r>
          </a:p>
          <a:p>
            <a:pPr algn="l"/>
            <a:r>
              <a:rPr sz="2800" b="0" i="0">
                <a:solidFill>
                  <a:srgbClr val="CFE3EA"/>
                </a:solidFill>
                <a:latin typeface="Calibri"/>
              </a:rPr>
              <a:t>Designing a Quantitative Dengue Test</a:t>
            </a:r>
          </a:p>
        </p:txBody>
      </p:sp>
      <p:sp>
        <p:nvSpPr>
          <p:cNvPr id="5" name="TextBox 4"/>
          <p:cNvSpPr txBox="1"/>
          <p:nvPr/>
        </p:nvSpPr>
        <p:spPr>
          <a:xfrm>
            <a:off x="914400" y="3977639"/>
            <a:ext cx="10362895" cy="548640"/>
          </a:xfrm>
          <a:prstGeom prst="rect">
            <a:avLst/>
          </a:prstGeom>
          <a:noFill/>
        </p:spPr>
        <p:txBody>
          <a:bodyPr wrap="square">
            <a:spAutoFit/>
          </a:bodyPr>
          <a:lstStyle/>
          <a:p>
            <a:pPr algn="l"/>
            <a:r>
              <a:rPr sz="2000" b="0" i="1">
                <a:solidFill>
                  <a:srgbClr val="E88A1A"/>
                </a:solidFill>
                <a:latin typeface="Calibri"/>
              </a:rPr>
              <a:t>A number you can carry — not just a yes/no</a:t>
            </a:r>
          </a:p>
        </p:txBody>
      </p:sp>
      <p:sp>
        <p:nvSpPr>
          <p:cNvPr id="6" name="TextBox 5"/>
          <p:cNvSpPr txBox="1"/>
          <p:nvPr/>
        </p:nvSpPr>
        <p:spPr>
          <a:xfrm>
            <a:off x="914400" y="5943600"/>
            <a:ext cx="10362895" cy="457200"/>
          </a:xfrm>
          <a:prstGeom prst="rect">
            <a:avLst/>
          </a:prstGeom>
          <a:noFill/>
        </p:spPr>
        <p:txBody>
          <a:bodyPr wrap="square">
            <a:spAutoFit/>
          </a:bodyPr>
          <a:lstStyle/>
          <a:p>
            <a:pPr algn="l"/>
            <a:r>
              <a:rPr sz="1600" b="0" i="0">
                <a:solidFill>
                  <a:srgbClr val="FFFFFF"/>
                </a:solidFill>
                <a:latin typeface="Calibri"/>
              </a:rPr>
              <a:t>Kaeyura Puram &amp; Rabaani Mehra   ·   Non-Trivial Fellowship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The problem</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0:34</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~390 million dengue infections a year; no drug for any of the four serotypes</a:t>
            </a:r>
          </a:p>
          <a:p>
            <a:pPr>
              <a:spcAft>
                <a:spcPts val="800"/>
              </a:spcAft>
            </a:pPr>
            <a:r>
              <a:rPr sz="1600" b="0">
                <a:solidFill>
                  <a:srgbClr val="0F2A43"/>
                </a:solidFill>
                <a:latin typeface="Calibri"/>
              </a:rPr>
              <a:t>•  Care means monitoring the patient — so what is there to monitor?</a:t>
            </a:r>
          </a:p>
          <a:p>
            <a:pPr>
              <a:spcAft>
                <a:spcPts val="800"/>
              </a:spcAft>
            </a:pPr>
            <a:r>
              <a:rPr sz="1600" b="0">
                <a:solidFill>
                  <a:srgbClr val="0F2A43"/>
                </a:solidFill>
                <a:latin typeface="Calibri"/>
              </a:rPr>
              <a:t>•  Infected cells shed a protein, NS1, into the blood early in infection</a:t>
            </a:r>
          </a:p>
          <a:p>
            <a:pPr>
              <a:spcAft>
                <a:spcPts val="800"/>
              </a:spcAft>
            </a:pPr>
            <a:r>
              <a:rPr sz="1600" b="1">
                <a:solidFill>
                  <a:srgbClr val="0F2A43"/>
                </a:solidFill>
                <a:latin typeface="Calibri"/>
              </a:rPr>
              <a:t>•  Its level rises as infection takes hold and falls as the patient recovers</a:t>
            </a:r>
          </a:p>
          <a:p>
            <a:pPr>
              <a:spcAft>
                <a:spcPts val="800"/>
              </a:spcAft>
            </a:pPr>
            <a:r>
              <a:rPr sz="1600" b="0">
                <a:solidFill>
                  <a:srgbClr val="0F2A43"/>
                </a:solidFill>
                <a:latin typeface="Calibri"/>
              </a:rPr>
              <a:t>•  So NS1 concentration signals the direction of the illness, not just its presence</a:t>
            </a:r>
          </a:p>
        </p:txBody>
      </p:sp>
      <p:pic>
        <p:nvPicPr>
          <p:cNvPr id="6" name="Picture 5" descr="v31a5c5a2_fig_ns1_kinetics.png"/>
          <p:cNvPicPr>
            <a:picLocks noChangeAspect="1"/>
          </p:cNvPicPr>
          <p:nvPr/>
        </p:nvPicPr>
        <p:blipFill>
          <a:blip r:embed="rId2"/>
          <a:stretch>
            <a:fillRect/>
          </a:stretch>
        </p:blipFill>
        <p:spPr>
          <a:xfrm>
            <a:off x="6382512" y="2052570"/>
            <a:ext cx="5486400" cy="3164339"/>
          </a:xfrm>
          <a:prstGeom prst="rect">
            <a:avLst/>
          </a:prstGeom>
        </p:spPr>
      </p:pic>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The problem</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Why a number, not a yes/no</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0:33</a:t>
            </a:r>
          </a:p>
        </p:txBody>
      </p:sp>
      <p:sp>
        <p:nvSpPr>
          <p:cNvPr id="5" name="TextBox 4"/>
          <p:cNvSpPr txBox="1"/>
          <p:nvPr/>
        </p:nvSpPr>
        <p:spPr>
          <a:xfrm>
            <a:off x="640080" y="1234440"/>
            <a:ext cx="10911535" cy="4937760"/>
          </a:xfrm>
          <a:prstGeom prst="rect">
            <a:avLst/>
          </a:prstGeom>
          <a:noFill/>
        </p:spPr>
        <p:txBody>
          <a:bodyPr wrap="square">
            <a:spAutoFit/>
          </a:bodyPr>
          <a:lstStyle/>
          <a:p>
            <a:pPr>
              <a:spcAft>
                <a:spcPts val="1100"/>
              </a:spcAft>
            </a:pPr>
            <a:r>
              <a:rPr sz="1800" b="0">
                <a:solidFill>
                  <a:srgbClr val="0F2A43"/>
                </a:solidFill>
                <a:latin typeface="Calibri"/>
              </a:rPr>
              <a:t>•  The portable field test reports only presence: NS1, yes or no</a:t>
            </a:r>
          </a:p>
          <a:p>
            <a:pPr>
              <a:spcAft>
                <a:spcPts val="1100"/>
              </a:spcAft>
            </a:pPr>
            <a:r>
              <a:rPr sz="1800" b="1">
                <a:solidFill>
                  <a:srgbClr val="0F2A43"/>
                </a:solidFill>
                <a:latin typeface="Calibri"/>
              </a:rPr>
              <a:t>•  A quantity, measured across days, shows if a patient is improving or worsening</a:t>
            </a:r>
          </a:p>
          <a:p>
            <a:pPr>
              <a:spcAft>
                <a:spcPts val="1100"/>
              </a:spcAft>
            </a:pPr>
            <a:r>
              <a:rPr sz="1800" b="0">
                <a:solidFill>
                  <a:srgbClr val="0F2A43"/>
                </a:solidFill>
                <a:latin typeface="Calibri"/>
              </a:rPr>
              <a:t>•  “Positive” on day 2 and day 5 gives a clinician no new information</a:t>
            </a:r>
          </a:p>
          <a:p>
            <a:pPr>
              <a:spcAft>
                <a:spcPts val="1100"/>
              </a:spcAft>
            </a:pPr>
            <a:r>
              <a:rPr sz="1800" b="0">
                <a:solidFill>
                  <a:srgbClr val="0F2A43"/>
                </a:solidFill>
                <a:latin typeface="Calibri"/>
              </a:rPr>
              <a:t>•  Quantifying NS1 is routine — but needs a plate reader, cold chain, trained staff</a:t>
            </a:r>
          </a:p>
          <a:p>
            <a:pPr>
              <a:spcAft>
                <a:spcPts val="1100"/>
              </a:spcAft>
            </a:pPr>
            <a:r>
              <a:rPr sz="1800" b="1">
                <a:solidFill>
                  <a:srgbClr val="0F2A43"/>
                </a:solidFill>
                <a:latin typeface="Calibri"/>
              </a:rPr>
              <a:t>•  The useful information exists, and is stuck where patients can't reach it</a:t>
            </a:r>
          </a:p>
        </p:txBody>
      </p:sp>
      <p:sp>
        <p:nvSpPr>
          <p:cNvPr id="6" name="Rectangle 5"/>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The problem</a:t>
            </a:r>
          </a:p>
        </p:txBody>
      </p:sp>
      <p:sp>
        <p:nvSpPr>
          <p:cNvPr id="8" name="TextBox 7"/>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Literature &amp; the gap</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0:27</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0">
                <a:solidFill>
                  <a:srgbClr val="0F2A43"/>
                </a:solidFill>
                <a:latin typeface="Calibri"/>
              </a:rPr>
              <a:t>•  Quantitative NS1 assays already exist — confined to hospital laboratories</a:t>
            </a:r>
          </a:p>
          <a:p>
            <a:pPr>
              <a:spcAft>
                <a:spcPts val="800"/>
              </a:spcAft>
            </a:pPr>
            <a:r>
              <a:rPr sz="1600" b="0">
                <a:solidFill>
                  <a:srgbClr val="0F2A43"/>
                </a:solidFill>
                <a:latin typeface="Calibri"/>
              </a:rPr>
              <a:t>•  Protein switches — bind a target AND report it in one molecule — are established</a:t>
            </a:r>
          </a:p>
          <a:p>
            <a:pPr>
              <a:spcAft>
                <a:spcPts val="800"/>
              </a:spcAft>
            </a:pPr>
            <a:r>
              <a:rPr sz="1600" b="1">
                <a:solidFill>
                  <a:srgbClr val="0F2A43"/>
                </a:solidFill>
                <a:latin typeface="Calibri"/>
              </a:rPr>
              <a:t>•  The gap: a de novo–designed protein switch for NS1, usable at point of care</a:t>
            </a:r>
          </a:p>
          <a:p>
            <a:pPr>
              <a:spcAft>
                <a:spcPts val="800"/>
              </a:spcAft>
            </a:pPr>
            <a:r>
              <a:rPr sz="1600" b="0">
                <a:solidFill>
                  <a:srgbClr val="0F2A43"/>
                </a:solidFill>
                <a:latin typeface="Calibri"/>
              </a:rPr>
              <a:t>•  Scope: the β-ladder patch (residues 261–305), conserved across DENV1–4</a:t>
            </a:r>
          </a:p>
          <a:p>
            <a:pPr>
              <a:spcAft>
                <a:spcPts val="800"/>
              </a:spcAft>
            </a:pPr>
            <a:r>
              <a:rPr sz="1600" b="0">
                <a:solidFill>
                  <a:srgbClr val="0F2A43"/>
                </a:solidFill>
                <a:latin typeface="Calibri"/>
              </a:rPr>
              <a:t>•  The tip region (311–352) was excluded — host mimicry risks false positives</a:t>
            </a:r>
          </a:p>
        </p:txBody>
      </p:sp>
      <p:pic>
        <p:nvPicPr>
          <p:cNvPr id="6" name="Picture 5" descr="vc70bc108_fig_target_epitope.png"/>
          <p:cNvPicPr>
            <a:picLocks noChangeAspect="1"/>
          </p:cNvPicPr>
          <p:nvPr/>
        </p:nvPicPr>
        <p:blipFill>
          <a:blip r:embed="rId2"/>
          <a:stretch>
            <a:fillRect/>
          </a:stretch>
        </p:blipFill>
        <p:spPr>
          <a:xfrm>
            <a:off x="6520332" y="1188720"/>
            <a:ext cx="5210759" cy="4892040"/>
          </a:xfrm>
          <a:prstGeom prst="rect">
            <a:avLst/>
          </a:prstGeom>
        </p:spPr>
      </p:pic>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The problem</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What a protein switch is</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0:28</a:t>
            </a:r>
          </a:p>
        </p:txBody>
      </p:sp>
      <p:sp>
        <p:nvSpPr>
          <p:cNvPr id="5" name="TextBox 4"/>
          <p:cNvSpPr txBox="1"/>
          <p:nvPr/>
        </p:nvSpPr>
        <p:spPr>
          <a:xfrm>
            <a:off x="640080" y="1234440"/>
            <a:ext cx="10911535" cy="4937760"/>
          </a:xfrm>
          <a:prstGeom prst="rect">
            <a:avLst/>
          </a:prstGeom>
          <a:noFill/>
        </p:spPr>
        <p:txBody>
          <a:bodyPr wrap="square">
            <a:spAutoFit/>
          </a:bodyPr>
          <a:lstStyle/>
          <a:p>
            <a:pPr>
              <a:spcAft>
                <a:spcPts val="1100"/>
              </a:spcAft>
            </a:pPr>
            <a:r>
              <a:rPr sz="1800" b="1">
                <a:solidFill>
                  <a:srgbClr val="0F2A43"/>
                </a:solidFill>
                <a:latin typeface="Calibri"/>
              </a:rPr>
              <a:t>•  A switch = two binders + a reporter protein split into two halves</a:t>
            </a:r>
          </a:p>
          <a:p>
            <a:pPr>
              <a:spcAft>
                <a:spcPts val="1100"/>
              </a:spcAft>
            </a:pPr>
            <a:r>
              <a:rPr sz="1800" b="0">
                <a:solidFill>
                  <a:srgbClr val="0F2A43"/>
                </a:solidFill>
                <a:latin typeface="Calibri"/>
              </a:rPr>
              <a:t>•  Apart, the two halves are dark and produce no signal</a:t>
            </a:r>
          </a:p>
          <a:p>
            <a:pPr>
              <a:spcAft>
                <a:spcPts val="1100"/>
              </a:spcAft>
            </a:pPr>
            <a:r>
              <a:rPr sz="1800" b="0">
                <a:solidFill>
                  <a:srgbClr val="0F2A43"/>
                </a:solidFill>
                <a:latin typeface="Calibri"/>
              </a:rPr>
              <a:t>•  Both binders must grip the SAME antigen to bring the halves together</a:t>
            </a:r>
          </a:p>
          <a:p>
            <a:pPr>
              <a:spcAft>
                <a:spcPts val="1100"/>
              </a:spcAft>
            </a:pPr>
            <a:r>
              <a:rPr sz="1800" b="1">
                <a:solidFill>
                  <a:srgbClr val="0F2A43"/>
                </a:solidFill>
                <a:latin typeface="Calibri"/>
              </a:rPr>
              <a:t>•  Antigen present → halves reunite → light; brighter = more antigen</a:t>
            </a:r>
          </a:p>
          <a:p>
            <a:pPr>
              <a:spcAft>
                <a:spcPts val="1100"/>
              </a:spcAft>
            </a:pPr>
            <a:r>
              <a:rPr sz="1800" b="0">
                <a:solidFill>
                  <a:srgbClr val="0F2A43"/>
                </a:solidFill>
                <a:latin typeface="Calibri"/>
              </a:rPr>
              <a:t>•  This proportionality is what turns presence into a quantity</a:t>
            </a:r>
          </a:p>
        </p:txBody>
      </p:sp>
      <p:sp>
        <p:nvSpPr>
          <p:cNvPr id="6" name="Rectangle 5"/>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The problem</a:t>
            </a:r>
          </a:p>
        </p:txBody>
      </p:sp>
      <p:sp>
        <p:nvSpPr>
          <p:cNvPr id="8" name="TextBox 7"/>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Our approach</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0:32</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Three questions: design a binder? two at once? does the switch behave?</a:t>
            </a:r>
          </a:p>
          <a:p>
            <a:pPr>
              <a:spcAft>
                <a:spcPts val="800"/>
              </a:spcAft>
            </a:pPr>
            <a:r>
              <a:rPr sz="1600" b="0">
                <a:solidFill>
                  <a:srgbClr val="0F2A43"/>
                </a:solidFill>
                <a:latin typeface="Calibri"/>
              </a:rPr>
              <a:t>•  De novo design — invent proteins from scratch — not slow, hard-to-aim antibodies</a:t>
            </a:r>
          </a:p>
          <a:p>
            <a:pPr>
              <a:spcAft>
                <a:spcPts val="800"/>
              </a:spcAft>
            </a:pPr>
            <a:r>
              <a:rPr sz="1600" b="0">
                <a:solidFill>
                  <a:srgbClr val="0F2A43"/>
                </a:solidFill>
                <a:latin typeface="Calibri"/>
              </a:rPr>
              <a:t>•  Lets us pick the exact epitope and avoid the false-positive-prone tip</a:t>
            </a:r>
          </a:p>
          <a:p>
            <a:pPr>
              <a:spcAft>
                <a:spcPts val="800"/>
              </a:spcAft>
            </a:pPr>
            <a:r>
              <a:rPr sz="1600" b="1">
                <a:solidFill>
                  <a:srgbClr val="0F2A43"/>
                </a:solidFill>
                <a:latin typeface="Calibri"/>
              </a:rPr>
              <a:t>•  Pipeline: RFdiffusion → ProteinMPNN → structure-predictor check</a:t>
            </a:r>
          </a:p>
          <a:p>
            <a:pPr>
              <a:spcAft>
                <a:spcPts val="800"/>
              </a:spcAft>
            </a:pPr>
            <a:r>
              <a:rPr sz="1600" b="0">
                <a:solidFill>
                  <a:srgbClr val="0F2A43"/>
                </a:solidFill>
                <a:latin typeface="Calibri"/>
              </a:rPr>
              <a:t>•  One fixed prediction harness for designs AND controls — the same ruler throughout</a:t>
            </a:r>
          </a:p>
        </p:txBody>
      </p:sp>
      <p:pic>
        <p:nvPicPr>
          <p:cNvPr id="6" name="Picture 5" descr="vaa611973_fig_hotspots.png"/>
          <p:cNvPicPr>
            <a:picLocks noChangeAspect="1"/>
          </p:cNvPicPr>
          <p:nvPr/>
        </p:nvPicPr>
        <p:blipFill>
          <a:blip r:embed="rId2"/>
          <a:stretch>
            <a:fillRect/>
          </a:stretch>
        </p:blipFill>
        <p:spPr>
          <a:xfrm>
            <a:off x="6801725" y="1188720"/>
            <a:ext cx="4647974" cy="4892040"/>
          </a:xfrm>
          <a:prstGeom prst="rect">
            <a:avLst/>
          </a:prstGeom>
        </p:spPr>
      </p:pic>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Approach</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The controls we ran</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0:30</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Four controls beyond a standard protocol — three exposed a broken component</a:t>
            </a:r>
          </a:p>
          <a:p>
            <a:pPr>
              <a:spcAft>
                <a:spcPts val="800"/>
              </a:spcAft>
            </a:pPr>
            <a:r>
              <a:rPr sz="1600" b="0">
                <a:solidFill>
                  <a:srgbClr val="0F2A43"/>
                </a:solidFill>
                <a:latin typeface="Calibri"/>
              </a:rPr>
              <a:t>•  The key idea: calibrate the scoring filter against KNOWN answers first</a:t>
            </a:r>
          </a:p>
          <a:p>
            <a:pPr>
              <a:spcAft>
                <a:spcPts val="800"/>
              </a:spcAft>
            </a:pPr>
            <a:r>
              <a:rPr sz="1600" b="0">
                <a:solidFill>
                  <a:srgbClr val="0F2A43"/>
                </a:solidFill>
                <a:latin typeface="Calibri"/>
              </a:rPr>
              <a:t>•  Positive control: a protective anti-NS1 antibody with a solved crystal structure</a:t>
            </a:r>
          </a:p>
          <a:p>
            <a:pPr>
              <a:spcAft>
                <a:spcPts val="800"/>
              </a:spcAft>
            </a:pPr>
            <a:r>
              <a:rPr sz="1600" b="0">
                <a:solidFill>
                  <a:srgbClr val="0F2A43"/>
                </a:solidFill>
                <a:latin typeface="Calibri"/>
              </a:rPr>
              <a:t>•  Negative control: a nanobody raised against a completely different protein</a:t>
            </a:r>
          </a:p>
          <a:p>
            <a:pPr>
              <a:spcAft>
                <a:spcPts val="800"/>
              </a:spcAft>
            </a:pPr>
            <a:r>
              <a:rPr sz="1600" b="0">
                <a:solidFill>
                  <a:srgbClr val="0F2A43"/>
                </a:solidFill>
                <a:latin typeface="Calibri"/>
              </a:rPr>
              <a:t>•  A valid filter passes the real binder and fails the decoy — an obvious test</a:t>
            </a:r>
          </a:p>
        </p:txBody>
      </p:sp>
      <p:pic>
        <p:nvPicPr>
          <p:cNvPr id="6" name="Picture 5" descr="v9ae0fa45_fig9_published_antibodies.png"/>
          <p:cNvPicPr>
            <a:picLocks noChangeAspect="1"/>
          </p:cNvPicPr>
          <p:nvPr/>
        </p:nvPicPr>
        <p:blipFill>
          <a:blip r:embed="rId2"/>
          <a:stretch>
            <a:fillRect/>
          </a:stretch>
        </p:blipFill>
        <p:spPr>
          <a:xfrm>
            <a:off x="6382512" y="2473214"/>
            <a:ext cx="5486400" cy="2323051"/>
          </a:xfrm>
          <a:prstGeom prst="rect">
            <a:avLst/>
          </a:prstGeom>
        </p:spPr>
      </p:pic>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Approach</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Result — the metric ran backwards</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0:33</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C0392B"/>
                </a:solidFill>
                <a:latin typeface="Calibri"/>
              </a:rPr>
              <a:t>•  The real antibody recovered 18–20 of its 20 contacts every seed — yet FAILED the gate every time</a:t>
            </a:r>
          </a:p>
          <a:p>
            <a:pPr>
              <a:spcAft>
                <a:spcPts val="800"/>
              </a:spcAft>
            </a:pPr>
            <a:r>
              <a:rPr sz="1600" b="1">
                <a:solidFill>
                  <a:srgbClr val="2E7D32"/>
                </a:solidFill>
                <a:latin typeface="Calibri"/>
              </a:rPr>
              <a:t>•  The non-binding decoy made zero epitope contacts — yet PASSED 3 of 5 seeds</a:t>
            </a:r>
          </a:p>
          <a:p>
            <a:pPr>
              <a:spcAft>
                <a:spcPts val="800"/>
              </a:spcAft>
            </a:pPr>
            <a:r>
              <a:rPr sz="1600" b="0">
                <a:solidFill>
                  <a:srgbClr val="0F2A43"/>
                </a:solidFill>
                <a:latin typeface="Calibri"/>
              </a:rPr>
              <a:t>•  Across 15 predictions, the confidence score was anti-correlated with real binding</a:t>
            </a:r>
          </a:p>
          <a:p>
            <a:pPr>
              <a:spcAft>
                <a:spcPts val="800"/>
              </a:spcAft>
            </a:pPr>
            <a:r>
              <a:rPr sz="1600" b="0">
                <a:solidFill>
                  <a:srgbClr val="0F2A43"/>
                </a:solidFill>
                <a:latin typeface="Calibri"/>
              </a:rPr>
              <a:t>•  The metric was ranking backwards — invisible without a crystallographic answer key</a:t>
            </a:r>
          </a:p>
          <a:p>
            <a:pPr>
              <a:spcAft>
                <a:spcPts val="800"/>
              </a:spcAft>
            </a:pPr>
            <a:r>
              <a:rPr sz="1600" b="1">
                <a:solidFill>
                  <a:srgbClr val="0F2A43"/>
                </a:solidFill>
                <a:latin typeface="Calibri"/>
              </a:rPr>
              <a:t>•  Fix: re-ranked designs on measured structural contacts, not the confidence score</a:t>
            </a:r>
          </a:p>
        </p:txBody>
      </p:sp>
      <p:pic>
        <p:nvPicPr>
          <p:cNvPr id="6" name="Picture 5" descr="v307cdc91_fig18_the_inverted_gate.png"/>
          <p:cNvPicPr>
            <a:picLocks noChangeAspect="1"/>
          </p:cNvPicPr>
          <p:nvPr/>
        </p:nvPicPr>
        <p:blipFill>
          <a:blip r:embed="rId2"/>
          <a:stretch>
            <a:fillRect/>
          </a:stretch>
        </p:blipFill>
        <p:spPr>
          <a:xfrm>
            <a:off x="6382512" y="1477492"/>
            <a:ext cx="5486400" cy="4314496"/>
          </a:xfrm>
          <a:prstGeom prst="rect">
            <a:avLst/>
          </a:prstGeom>
        </p:spPr>
      </p:pic>
      <p:sp>
        <p:nvSpPr>
          <p:cNvPr id="7" name="Rounded Rectangle 6"/>
          <p:cNvSpPr/>
          <p:nvPr/>
        </p:nvSpPr>
        <p:spPr>
          <a:xfrm>
            <a:off x="10500055" y="1024128"/>
            <a:ext cx="1143000" cy="310896"/>
          </a:xfrm>
          <a:prstGeom prst="round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0"/>
          <a:lstStyle/>
          <a:p>
            <a:pPr algn="ctr"/>
            <a:r>
              <a:rPr sz="1100" b="1" i="0">
                <a:solidFill>
                  <a:srgbClr val="FFFFFF"/>
                </a:solidFill>
                <a:latin typeface="Calibri"/>
              </a:rPr>
              <a:t>KEY FINDING</a:t>
            </a:r>
          </a:p>
        </p:txBody>
      </p:sp>
      <p:sp>
        <p:nvSpPr>
          <p:cNvPr id="8" name="Rectangle 7"/>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Results</a:t>
            </a:r>
          </a:p>
        </p:txBody>
      </p:sp>
      <p:sp>
        <p:nvSpPr>
          <p:cNvPr id="10" name="TextBox 9"/>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Three more ways it misled us</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0:31</a:t>
            </a:r>
          </a:p>
        </p:txBody>
      </p:sp>
      <p:sp>
        <p:nvSpPr>
          <p:cNvPr id="5" name="TextBox 4"/>
          <p:cNvSpPr txBox="1"/>
          <p:nvPr/>
        </p:nvSpPr>
        <p:spPr>
          <a:xfrm>
            <a:off x="640080" y="1234440"/>
            <a:ext cx="10911535" cy="4937760"/>
          </a:xfrm>
          <a:prstGeom prst="rect">
            <a:avLst/>
          </a:prstGeom>
          <a:noFill/>
        </p:spPr>
        <p:txBody>
          <a:bodyPr wrap="square">
            <a:spAutoFit/>
          </a:bodyPr>
          <a:lstStyle/>
          <a:p>
            <a:pPr>
              <a:spcAft>
                <a:spcPts val="1100"/>
              </a:spcAft>
            </a:pPr>
            <a:r>
              <a:rPr sz="1800" b="1">
                <a:solidFill>
                  <a:srgbClr val="0F2A43"/>
                </a:solidFill>
                <a:latin typeface="Calibri"/>
              </a:rPr>
              <a:t>•  The same failure shape recurred — hidden in metrics, found only by controls</a:t>
            </a:r>
          </a:p>
          <a:p>
            <a:pPr>
              <a:spcAft>
                <a:spcPts val="1100"/>
              </a:spcAft>
            </a:pPr>
            <a:r>
              <a:rPr sz="1800" b="0">
                <a:solidFill>
                  <a:srgbClr val="0F2A43"/>
                </a:solidFill>
                <a:latin typeface="Calibri"/>
              </a:rPr>
              <a:t>•  Cropped-target designs: 0 of 32 fit intact NS1 (a pose that can't physically exist)</a:t>
            </a:r>
          </a:p>
          <a:p>
            <a:pPr>
              <a:spcAft>
                <a:spcPts val="1100"/>
              </a:spcAft>
            </a:pPr>
            <a:r>
              <a:rPr sz="1800" b="0">
                <a:solidFill>
                  <a:srgbClr val="0F2A43"/>
                </a:solidFill>
                <a:latin typeface="Calibri"/>
              </a:rPr>
              <a:t>•  A top design buried 1,703 Å²/side vs 602 Å² for a real antibody</a:t>
            </a:r>
          </a:p>
          <a:p>
            <a:pPr>
              <a:spcAft>
                <a:spcPts val="1100"/>
              </a:spcAft>
            </a:pPr>
            <a:r>
              <a:rPr sz="1800" b="0">
                <a:solidFill>
                  <a:srgbClr val="0F2A43"/>
                </a:solidFill>
                <a:latin typeface="Calibri"/>
              </a:rPr>
              <a:t>•  Antibody 3G2: predictor placed 0 of 16 epitope residues right — in 10/10 runs</a:t>
            </a:r>
          </a:p>
          <a:p>
            <a:pPr>
              <a:spcAft>
                <a:spcPts val="1100"/>
              </a:spcAft>
            </a:pPr>
            <a:r>
              <a:rPr sz="1800" b="0">
                <a:solidFill>
                  <a:srgbClr val="0F2A43"/>
                </a:solidFill>
                <a:latin typeface="Calibri"/>
              </a:rPr>
              <a:t>•  Confidence never flagged it (ipTM 0.41–0.63, pLDDT 0.90–0.92)</a:t>
            </a:r>
          </a:p>
          <a:p>
            <a:pPr>
              <a:spcAft>
                <a:spcPts val="1100"/>
              </a:spcAft>
            </a:pPr>
            <a:r>
              <a:rPr sz="1800" b="1">
                <a:solidFill>
                  <a:srgbClr val="0F2A43"/>
                </a:solidFill>
                <a:latin typeface="Calibri"/>
              </a:rPr>
              <a:t>•  Lesson, repeated: a high confidence score is not evidence of a correct structure</a:t>
            </a:r>
          </a:p>
        </p:txBody>
      </p:sp>
      <p:sp>
        <p:nvSpPr>
          <p:cNvPr id="6" name="Rectangle 5"/>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Results</a:t>
            </a:r>
          </a:p>
        </p:txBody>
      </p:sp>
      <p:sp>
        <p:nvSpPr>
          <p:cNvPr id="8" name="TextBox 7"/>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Result — what we deliver</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0:36</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Arm 1 (β-ladder): on-epitope in 5 of 5 seeds; residues 299/303/327 every seed</a:t>
            </a:r>
          </a:p>
          <a:p>
            <a:pPr>
              <a:spcAft>
                <a:spcPts val="800"/>
              </a:spcAft>
            </a:pPr>
            <a:r>
              <a:rPr sz="1600" b="0">
                <a:solidFill>
                  <a:srgbClr val="0F2A43"/>
                </a:solidFill>
                <a:latin typeface="Calibri"/>
              </a:rPr>
              <a:t>•  A repeatable footprint — real, not a lucky single run</a:t>
            </a:r>
          </a:p>
          <a:p>
            <a:pPr>
              <a:spcAft>
                <a:spcPts val="800"/>
              </a:spcAft>
            </a:pPr>
            <a:r>
              <a:rPr sz="1600" b="1">
                <a:solidFill>
                  <a:srgbClr val="0F2A43"/>
                </a:solidFill>
                <a:latin typeface="Calibri"/>
              </a:rPr>
              <a:t>•  Arm 2 (wing site): 16 of 19 contact positions conserved across all four serotypes</a:t>
            </a:r>
          </a:p>
          <a:p>
            <a:pPr>
              <a:spcAft>
                <a:spcPts val="800"/>
              </a:spcAft>
            </a:pPr>
            <a:r>
              <a:rPr sz="1600" b="0">
                <a:solidFill>
                  <a:srgbClr val="0F2A43"/>
                </a:solidFill>
                <a:latin typeface="Calibri"/>
              </a:rPr>
              <a:t>•  Pan-serotype coverage is plausible; 4 positions differ from Zika (a selectivity handle)</a:t>
            </a:r>
          </a:p>
          <a:p>
            <a:pPr>
              <a:spcAft>
                <a:spcPts val="800"/>
              </a:spcAft>
            </a:pPr>
            <a:r>
              <a:rPr sz="1600" b="1">
                <a:solidFill>
                  <a:srgbClr val="0F2A43"/>
                </a:solidFill>
                <a:latin typeface="Calibri"/>
              </a:rPr>
              <a:t>•  Both are CHARACTERISED candidates — not yet experimentally validated</a:t>
            </a:r>
          </a:p>
        </p:txBody>
      </p:sp>
      <p:pic>
        <p:nvPicPr>
          <p:cNvPr id="6" name="Picture 5" descr="vb21de07e_fig14_rescue_campaign.png"/>
          <p:cNvPicPr>
            <a:picLocks noChangeAspect="1"/>
          </p:cNvPicPr>
          <p:nvPr/>
        </p:nvPicPr>
        <p:blipFill>
          <a:blip r:embed="rId2"/>
          <a:stretch>
            <a:fillRect/>
          </a:stretch>
        </p:blipFill>
        <p:spPr>
          <a:xfrm>
            <a:off x="6382512" y="2300743"/>
            <a:ext cx="5486400" cy="2667993"/>
          </a:xfrm>
          <a:prstGeom prst="rect">
            <a:avLst/>
          </a:prstGeom>
        </p:spPr>
      </p:pic>
      <p:sp>
        <p:nvSpPr>
          <p:cNvPr id="7" name="Rounded Rectangle 6"/>
          <p:cNvSpPr/>
          <p:nvPr/>
        </p:nvSpPr>
        <p:spPr>
          <a:xfrm>
            <a:off x="10500055" y="1024128"/>
            <a:ext cx="1143000" cy="310896"/>
          </a:xfrm>
          <a:prstGeom prst="round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0"/>
          <a:lstStyle/>
          <a:p>
            <a:pPr algn="ctr"/>
            <a:r>
              <a:rPr sz="1100" b="1" i="0">
                <a:solidFill>
                  <a:srgbClr val="FFFFFF"/>
                </a:solidFill>
                <a:latin typeface="Calibri"/>
              </a:rPr>
              <a:t>DELIVERABLE</a:t>
            </a:r>
          </a:p>
        </p:txBody>
      </p:sp>
      <p:sp>
        <p:nvSpPr>
          <p:cNvPr id="8" name="Rectangle 7"/>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Results</a:t>
            </a:r>
          </a:p>
        </p:txBody>
      </p:sp>
      <p:sp>
        <p:nvSpPr>
          <p:cNvPr id="10" name="TextBox 9"/>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Result — the two binders fit</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0:33</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22 of 25 seed pairs place both binders on NS1 with no steric clash</a:t>
            </a:r>
          </a:p>
          <a:p>
            <a:pPr>
              <a:spcAft>
                <a:spcPts val="800"/>
              </a:spcAft>
            </a:pPr>
            <a:r>
              <a:rPr sz="1600" b="0">
                <a:solidFill>
                  <a:srgbClr val="0F2A43"/>
                </a:solidFill>
                <a:latin typeface="Calibri"/>
              </a:rPr>
              <a:t>•  Room remains for both halves of the split reporter</a:t>
            </a:r>
          </a:p>
          <a:p>
            <a:pPr>
              <a:spcAft>
                <a:spcPts val="800"/>
              </a:spcAft>
            </a:pPr>
            <a:r>
              <a:rPr sz="1600" b="1">
                <a:solidFill>
                  <a:srgbClr val="0F2A43"/>
                </a:solidFill>
                <a:latin typeface="Calibri"/>
              </a:rPr>
              <a:t>•  Measured directly from superposed structures — geometry, not a confidence score</a:t>
            </a:r>
          </a:p>
          <a:p>
            <a:pPr>
              <a:spcAft>
                <a:spcPts val="800"/>
              </a:spcAft>
            </a:pPr>
            <a:r>
              <a:rPr sz="1600" b="0">
                <a:solidFill>
                  <a:srgbClr val="0F2A43"/>
                </a:solidFill>
                <a:latin typeface="Calibri"/>
              </a:rPr>
              <a:t>•  Terminus-to-terminus spacing sets the linker length to build to</a:t>
            </a:r>
          </a:p>
          <a:p>
            <a:pPr>
              <a:spcAft>
                <a:spcPts val="800"/>
              </a:spcAft>
            </a:pPr>
            <a:r>
              <a:rPr sz="1600" b="0">
                <a:solidFill>
                  <a:srgbClr val="0F2A43"/>
                </a:solidFill>
                <a:latin typeface="Calibri"/>
              </a:rPr>
              <a:t>•  Survives the metric failure precisely because it rests on coordinates</a:t>
            </a:r>
          </a:p>
        </p:txBody>
      </p:sp>
      <p:pic>
        <p:nvPicPr>
          <p:cNvPr id="6" name="Picture 5" descr="v642acadf_fig13_switch_geometry.png"/>
          <p:cNvPicPr>
            <a:picLocks noChangeAspect="1"/>
          </p:cNvPicPr>
          <p:nvPr/>
        </p:nvPicPr>
        <p:blipFill>
          <a:blip r:embed="rId2"/>
          <a:stretch>
            <a:fillRect/>
          </a:stretch>
        </p:blipFill>
        <p:spPr>
          <a:xfrm>
            <a:off x="6382512" y="2816728"/>
            <a:ext cx="5486400" cy="1636023"/>
          </a:xfrm>
          <a:prstGeom prst="rect">
            <a:avLst/>
          </a:prstGeom>
        </p:spPr>
      </p:pic>
      <p:sp>
        <p:nvSpPr>
          <p:cNvPr id="7" name="Rounded Rectangle 6"/>
          <p:cNvSpPr/>
          <p:nvPr/>
        </p:nvSpPr>
        <p:spPr>
          <a:xfrm>
            <a:off x="10500055" y="1024128"/>
            <a:ext cx="1143000" cy="31089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0"/>
          <a:lstStyle/>
          <a:p>
            <a:pPr algn="ctr"/>
            <a:r>
              <a:rPr sz="1100" b="1" i="0">
                <a:solidFill>
                  <a:srgbClr val="FFFFFF"/>
                </a:solidFill>
                <a:latin typeface="Calibri"/>
              </a:rPr>
              <a:t>MEASURED</a:t>
            </a:r>
          </a:p>
        </p:txBody>
      </p:sp>
      <p:sp>
        <p:nvSpPr>
          <p:cNvPr id="8" name="Rectangle 7"/>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Results</a:t>
            </a:r>
          </a:p>
        </p:txBody>
      </p:sp>
      <p:sp>
        <p:nvSpPr>
          <p:cNvPr id="10" name="TextBox 9"/>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Discussion — the central bet</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0:28</a:t>
            </a:r>
          </a:p>
        </p:txBody>
      </p:sp>
      <p:sp>
        <p:nvSpPr>
          <p:cNvPr id="5" name="TextBox 4"/>
          <p:cNvSpPr txBox="1"/>
          <p:nvPr/>
        </p:nvSpPr>
        <p:spPr>
          <a:xfrm>
            <a:off x="502920" y="1143000"/>
            <a:ext cx="5715000" cy="5074920"/>
          </a:xfrm>
          <a:prstGeom prst="rect">
            <a:avLst/>
          </a:prstGeom>
          <a:noFill/>
        </p:spPr>
        <p:txBody>
          <a:bodyPr wrap="square">
            <a:spAutoFit/>
          </a:bodyPr>
          <a:lstStyle/>
          <a:p>
            <a:pPr>
              <a:spcAft>
                <a:spcPts val="800"/>
              </a:spcAft>
            </a:pPr>
            <a:r>
              <a:rPr sz="1600" b="1">
                <a:solidFill>
                  <a:srgbClr val="0F2A43"/>
                </a:solidFill>
                <a:latin typeface="Calibri"/>
              </a:rPr>
              <a:t>•  Scorecard: Q1 qualified yes · Q2 clear yes · Q3 honest no (no converged pose yet)</a:t>
            </a:r>
          </a:p>
          <a:p>
            <a:pPr>
              <a:spcAft>
                <a:spcPts val="800"/>
              </a:spcAft>
            </a:pPr>
            <a:r>
              <a:rPr sz="1600" b="0">
                <a:solidFill>
                  <a:srgbClr val="0F2A43"/>
                </a:solidFill>
                <a:latin typeface="Calibri"/>
              </a:rPr>
              <a:t>•  Antibody tests lose sensitivity in severe, repeat (secondary) infection</a:t>
            </a:r>
          </a:p>
          <a:p>
            <a:pPr>
              <a:spcAft>
                <a:spcPts val="800"/>
              </a:spcAft>
            </a:pPr>
            <a:r>
              <a:rPr sz="1600" b="0">
                <a:solidFill>
                  <a:srgbClr val="0F2A43"/>
                </a:solidFill>
                <a:latin typeface="Calibri"/>
              </a:rPr>
              <a:t>•  Cause: the patient's own antibodies form complexes that mask the antigen</a:t>
            </a:r>
          </a:p>
          <a:p>
            <a:pPr>
              <a:spcAft>
                <a:spcPts val="800"/>
              </a:spcAft>
            </a:pPr>
            <a:r>
              <a:rPr sz="1600" b="0">
                <a:solidFill>
                  <a:srgbClr val="0F2A43"/>
                </a:solidFill>
                <a:latin typeface="Calibri"/>
              </a:rPr>
              <a:t>•  Our binders are aimed OFF that immunodominant surface by design</a:t>
            </a:r>
          </a:p>
          <a:p>
            <a:pPr>
              <a:spcAft>
                <a:spcPts val="800"/>
              </a:spcAft>
            </a:pPr>
            <a:r>
              <a:rPr sz="1600" b="1">
                <a:solidFill>
                  <a:srgbClr val="0F2A43"/>
                </a:solidFill>
                <a:latin typeface="Calibri"/>
              </a:rPr>
              <a:t>•  So they may keep reporting exactly where antibody tests fail — a testable prediction</a:t>
            </a:r>
          </a:p>
        </p:txBody>
      </p:sp>
      <p:pic>
        <p:nvPicPr>
          <p:cNvPr id="6" name="Picture 5" descr="v09942e79_fig12_ternary_validation.png"/>
          <p:cNvPicPr>
            <a:picLocks noChangeAspect="1"/>
          </p:cNvPicPr>
          <p:nvPr/>
        </p:nvPicPr>
        <p:blipFill>
          <a:blip r:embed="rId2"/>
          <a:stretch>
            <a:fillRect/>
          </a:stretch>
        </p:blipFill>
        <p:spPr>
          <a:xfrm>
            <a:off x="6382512" y="2822598"/>
            <a:ext cx="5486400" cy="1624283"/>
          </a:xfrm>
          <a:prstGeom prst="rect">
            <a:avLst/>
          </a:prstGeom>
        </p:spPr>
      </p:pic>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Discussion</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Limitations &amp; what I learned</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0:30</a:t>
            </a:r>
          </a:p>
        </p:txBody>
      </p:sp>
      <p:sp>
        <p:nvSpPr>
          <p:cNvPr id="5" name="TextBox 4"/>
          <p:cNvSpPr txBox="1"/>
          <p:nvPr/>
        </p:nvSpPr>
        <p:spPr>
          <a:xfrm>
            <a:off x="731520" y="1188720"/>
            <a:ext cx="10728655" cy="2286000"/>
          </a:xfrm>
          <a:prstGeom prst="rect">
            <a:avLst/>
          </a:prstGeom>
          <a:noFill/>
        </p:spPr>
        <p:txBody>
          <a:bodyPr wrap="square">
            <a:spAutoFit/>
          </a:bodyPr>
          <a:lstStyle/>
          <a:p>
            <a:pPr>
              <a:spcAft>
                <a:spcPts val="900"/>
              </a:spcAft>
            </a:pPr>
            <a:r>
              <a:rPr sz="1700" b="0">
                <a:solidFill>
                  <a:srgbClr val="0F2A43"/>
                </a:solidFill>
                <a:latin typeface="Calibri"/>
              </a:rPr>
              <a:t>•  Geometry — most durable: atom distances don't depend on any model's confidence</a:t>
            </a:r>
          </a:p>
          <a:p>
            <a:pPr>
              <a:spcAft>
                <a:spcPts val="900"/>
              </a:spcAft>
            </a:pPr>
            <a:r>
              <a:rPr sz="1700" b="0">
                <a:solidFill>
                  <a:srgbClr val="0F2A43"/>
                </a:solidFill>
                <a:latin typeface="Calibri"/>
              </a:rPr>
              <a:t>•  Binder candidates — least secure: characterised, not experimentally validated</a:t>
            </a:r>
          </a:p>
          <a:p>
            <a:pPr>
              <a:spcAft>
                <a:spcPts val="900"/>
              </a:spcAft>
            </a:pPr>
            <a:r>
              <a:rPr sz="1700" b="0">
                <a:solidFill>
                  <a:srgbClr val="0F2A43"/>
                </a:solidFill>
                <a:latin typeface="Calibri"/>
              </a:rPr>
              <a:t>•  Calibration finding — most secure: 15 predictions against a crystallographic answer key</a:t>
            </a:r>
          </a:p>
          <a:p>
            <a:pPr>
              <a:spcAft>
                <a:spcPts val="900"/>
              </a:spcAft>
            </a:pPr>
            <a:r>
              <a:rPr sz="1700" b="0">
                <a:solidFill>
                  <a:srgbClr val="0F2A43"/>
                </a:solidFill>
                <a:latin typeface="Calibri"/>
              </a:rPr>
              <a:t>•  Measured on the dimer, not the physiological hexamer — a stated boundary</a:t>
            </a:r>
          </a:p>
        </p:txBody>
      </p:sp>
      <p:sp>
        <p:nvSpPr>
          <p:cNvPr id="6" name="Rounded Rectangle 5"/>
          <p:cNvSpPr/>
          <p:nvPr/>
        </p:nvSpPr>
        <p:spPr>
          <a:xfrm>
            <a:off x="731520" y="3931920"/>
            <a:ext cx="10728655" cy="1828800"/>
          </a:xfrm>
          <a:prstGeom prst="round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tIns="201168"/>
          <a:lstStyle/>
          <a:p>
            <a:pPr algn="l"/>
            <a:r>
              <a:rPr sz="2000" b="1" i="0">
                <a:solidFill>
                  <a:srgbClr val="E88A1A"/>
                </a:solidFill>
                <a:latin typeface="Calibri"/>
              </a:rPr>
              <a:t>What I learned</a:t>
            </a:r>
          </a:p>
          <a:p>
            <a:pPr algn="l"/>
            <a:r>
              <a:rPr sz="2000" b="0" i="0">
                <a:solidFill>
                  <a:srgbClr val="FFFFFF"/>
                </a:solidFill>
                <a:latin typeface="Calibri"/>
              </a:rPr>
              <a:t>A model's confidence is not the same as being right. If you can find one place you already know the answer, check there first — before you trust it anywhere you don't.</a:t>
            </a:r>
          </a:p>
        </p:txBody>
      </p:sp>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Discussion</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11185855" cy="658368"/>
          </a:xfrm>
          <a:prstGeom prst="rect">
            <a:avLst/>
          </a:prstGeom>
          <a:noFill/>
        </p:spPr>
        <p:txBody>
          <a:bodyPr wrap="square">
            <a:spAutoFit/>
          </a:bodyPr>
          <a:lstStyle/>
          <a:p>
            <a:pPr algn="l"/>
            <a:r>
              <a:rPr sz="2700" b="1" i="0">
                <a:solidFill>
                  <a:srgbClr val="FFFFFF"/>
                </a:solidFill>
                <a:latin typeface="Calibri"/>
              </a:rPr>
              <a:t>Theory of change &amp; next steps</a:t>
            </a:r>
          </a:p>
        </p:txBody>
      </p:sp>
      <p:sp>
        <p:nvSpPr>
          <p:cNvPr id="4" name="TextBox 3"/>
          <p:cNvSpPr txBox="1"/>
          <p:nvPr/>
        </p:nvSpPr>
        <p:spPr>
          <a:xfrm>
            <a:off x="10637215" y="292608"/>
            <a:ext cx="1417320" cy="365760"/>
          </a:xfrm>
          <a:prstGeom prst="rect">
            <a:avLst/>
          </a:prstGeom>
          <a:noFill/>
        </p:spPr>
        <p:txBody>
          <a:bodyPr wrap="square">
            <a:spAutoFit/>
          </a:bodyPr>
          <a:lstStyle/>
          <a:p>
            <a:pPr algn="r"/>
            <a:r>
              <a:rPr sz="1100" b="0" i="0">
                <a:solidFill>
                  <a:srgbClr val="CFE3EA"/>
                </a:solidFill>
                <a:latin typeface="Calibri"/>
              </a:rPr>
              <a:t>0:36</a:t>
            </a:r>
          </a:p>
        </p:txBody>
      </p:sp>
      <p:pic>
        <p:nvPicPr>
          <p:cNvPr id="5" name="Picture 4" descr="v38e50522_fig19_theory_of_change_chain.png"/>
          <p:cNvPicPr>
            <a:picLocks noChangeAspect="1"/>
          </p:cNvPicPr>
          <p:nvPr/>
        </p:nvPicPr>
        <p:blipFill>
          <a:blip r:embed="rId2"/>
          <a:stretch>
            <a:fillRect/>
          </a:stretch>
        </p:blipFill>
        <p:spPr>
          <a:xfrm>
            <a:off x="411480" y="2673855"/>
            <a:ext cx="6400800" cy="1967489"/>
          </a:xfrm>
          <a:prstGeom prst="rect">
            <a:avLst/>
          </a:prstGeom>
        </p:spPr>
      </p:pic>
      <p:sp>
        <p:nvSpPr>
          <p:cNvPr id="6" name="TextBox 5"/>
          <p:cNvSpPr txBox="1"/>
          <p:nvPr/>
        </p:nvSpPr>
        <p:spPr>
          <a:xfrm>
            <a:off x="7086600" y="1143000"/>
            <a:ext cx="4709160" cy="5120640"/>
          </a:xfrm>
          <a:prstGeom prst="rect">
            <a:avLst/>
          </a:prstGeom>
          <a:noFill/>
        </p:spPr>
        <p:txBody>
          <a:bodyPr wrap="square">
            <a:spAutoFit/>
          </a:bodyPr>
          <a:lstStyle/>
          <a:p>
            <a:pPr algn="l"/>
            <a:r>
              <a:rPr sz="1600" b="1" i="0">
                <a:solidFill>
                  <a:srgbClr val="1F7A8C"/>
                </a:solidFill>
                <a:latin typeface="Calibri"/>
              </a:rPr>
              <a:t>What a lab receives today</a:t>
            </a:r>
          </a:p>
          <a:p>
            <a:pPr algn="l">
              <a:spcAft>
                <a:spcPts val="300"/>
              </a:spcAft>
            </a:pPr>
            <a:r>
              <a:rPr sz="1300" b="0" i="0">
                <a:solidFill>
                  <a:srgbClr val="0F2A43"/>
                </a:solidFill>
                <a:latin typeface="Calibri"/>
              </a:rPr>
              <a:t>•  Scoring harness + crystallographic calibration</a:t>
            </a:r>
          </a:p>
          <a:p>
            <a:pPr algn="l">
              <a:spcAft>
                <a:spcPts val="300"/>
              </a:spcAft>
            </a:pPr>
            <a:r>
              <a:rPr sz="1300" b="0" i="0">
                <a:solidFill>
                  <a:srgbClr val="0F2A43"/>
                </a:solidFill>
                <a:latin typeface="Calibri"/>
              </a:rPr>
              <a:t>•  Two characterised binder arms</a:t>
            </a:r>
          </a:p>
          <a:p>
            <a:pPr algn="l">
              <a:spcAft>
                <a:spcPts val="300"/>
              </a:spcAft>
            </a:pPr>
            <a:r>
              <a:rPr sz="1300" b="0" i="0">
                <a:solidFill>
                  <a:srgbClr val="0F2A43"/>
                </a:solidFill>
                <a:latin typeface="Calibri"/>
              </a:rPr>
              <a:t>•  Cheapest falsifying test: bind arms to NS1</a:t>
            </a:r>
          </a:p>
          <a:p>
            <a:pPr algn="l">
              <a:spcBef>
                <a:spcPts val="800"/>
              </a:spcBef>
            </a:pPr>
            <a:r>
              <a:rPr sz="1600" b="1" i="0">
                <a:solidFill>
                  <a:srgbClr val="1F7A8C"/>
                </a:solidFill>
                <a:latin typeface="Calibri"/>
              </a:rPr>
              <a:t>Next steps (by cost)</a:t>
            </a:r>
          </a:p>
          <a:p>
            <a:pPr algn="l">
              <a:spcAft>
                <a:spcPts val="300"/>
              </a:spcAft>
            </a:pPr>
            <a:r>
              <a:rPr sz="1300" b="0" i="0">
                <a:solidFill>
                  <a:srgbClr val="0F2A43"/>
                </a:solidFill>
                <a:latin typeface="Calibri"/>
              </a:rPr>
              <a:t>1  Assemble the switch — no partner</a:t>
            </a:r>
          </a:p>
          <a:p>
            <a:pPr algn="l">
              <a:spcAft>
                <a:spcPts val="300"/>
              </a:spcAft>
            </a:pPr>
            <a:r>
              <a:rPr sz="1300" b="0" i="0">
                <a:solidFill>
                  <a:srgbClr val="0F2A43"/>
                </a:solidFill>
                <a:latin typeface="Calibri"/>
              </a:rPr>
              <a:t>2  Re-run controls on a 2nd predictor</a:t>
            </a:r>
          </a:p>
          <a:p>
            <a:pPr algn="l">
              <a:spcAft>
                <a:spcPts val="300"/>
              </a:spcAft>
            </a:pPr>
            <a:r>
              <a:rPr sz="1300" b="0" i="0">
                <a:solidFill>
                  <a:srgbClr val="0F2A43"/>
                </a:solidFill>
                <a:latin typeface="Calibri"/>
              </a:rPr>
              <a:t>3  Wet-lab screen — needs a partner</a:t>
            </a:r>
          </a:p>
          <a:p>
            <a:pPr algn="l">
              <a:spcBef>
                <a:spcPts val="800"/>
              </a:spcBef>
            </a:pPr>
            <a:r>
              <a:rPr sz="1600" b="1" i="0">
                <a:solidFill>
                  <a:srgbClr val="1F7A8C"/>
                </a:solidFill>
                <a:latin typeface="Calibri"/>
              </a:rPr>
              <a:t>Collaboration</a:t>
            </a:r>
          </a:p>
          <a:p>
            <a:pPr>
              <a:spcAft>
                <a:spcPts val="300"/>
              </a:spcAft>
            </a:pPr>
            <a:r>
              <a:rPr sz="1300" b="1">
                <a:solidFill>
                  <a:srgbClr val="2E7D32"/>
                </a:solidFill>
                <a:latin typeface="Calibri"/>
              </a:rPr>
              <a:t>Have now: Baker lab PhD design input</a:t>
            </a:r>
          </a:p>
          <a:p>
            <a:pPr>
              <a:spcAft>
                <a:spcPts val="300"/>
              </a:spcAft>
            </a:pPr>
            <a:r>
              <a:rPr sz="1300" b="1">
                <a:solidFill>
                  <a:srgbClr val="E88A1A"/>
                </a:solidFill>
                <a:latin typeface="Calibri"/>
              </a:rPr>
              <a:t>In progress: Amritsar connection</a:t>
            </a:r>
          </a:p>
          <a:p>
            <a:pPr>
              <a:spcAft>
                <a:spcPts val="300"/>
              </a:spcAft>
            </a:pPr>
            <a:r>
              <a:rPr sz="1300" b="1">
                <a:solidFill>
                  <a:srgbClr val="555B62"/>
                </a:solidFill>
                <a:latin typeface="Calibri"/>
              </a:rPr>
              <a:t>Planned: Indian labs · FIND · WHO</a:t>
            </a:r>
          </a:p>
        </p:txBody>
      </p:sp>
      <p:sp>
        <p:nvSpPr>
          <p:cNvPr id="7" name="Rectangle 6"/>
          <p:cNvSpPr/>
          <p:nvPr/>
        </p:nvSpPr>
        <p:spPr>
          <a:xfrm>
            <a:off x="0" y="6492240"/>
            <a:ext cx="12191695" cy="3657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6492240"/>
            <a:ext cx="8229600" cy="347472"/>
          </a:xfrm>
          <a:prstGeom prst="rect">
            <a:avLst/>
          </a:prstGeom>
          <a:noFill/>
        </p:spPr>
        <p:txBody>
          <a:bodyPr wrap="square">
            <a:spAutoFit/>
          </a:bodyPr>
          <a:lstStyle/>
          <a:p>
            <a:pPr algn="l"/>
            <a:r>
              <a:rPr sz="1100" b="0" i="0">
                <a:solidFill>
                  <a:srgbClr val="555B62"/>
                </a:solidFill>
                <a:latin typeface="Calibri"/>
              </a:rPr>
              <a:t>From Binary to How Much   ·   Where this goes</a:t>
            </a:r>
          </a:p>
        </p:txBody>
      </p:sp>
      <p:sp>
        <p:nvSpPr>
          <p:cNvPr id="9" name="TextBox 8"/>
          <p:cNvSpPr txBox="1"/>
          <p:nvPr/>
        </p:nvSpPr>
        <p:spPr>
          <a:xfrm>
            <a:off x="10820095" y="6492240"/>
            <a:ext cx="1005840" cy="347472"/>
          </a:xfrm>
          <a:prstGeom prst="rect">
            <a:avLst/>
          </a:prstGeom>
          <a:noFill/>
        </p:spPr>
        <p:txBody>
          <a:bodyPr wrap="square">
            <a:spAutoFit/>
          </a:bodyPr>
          <a:lstStyle/>
          <a:p>
            <a:pPr algn="r"/>
            <a:r>
              <a:rPr sz="1100" b="0" i="0">
                <a:solidFill>
                  <a:srgbClr val="555B62"/>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pic>
        <p:nvPicPr>
          <p:cNvPr id="2" name="Picture 1" descr="v2f99e727_fig_structur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F2A43">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2895" cy="1371600"/>
          </a:xfrm>
          <a:prstGeom prst="rect">
            <a:avLst/>
          </a:prstGeom>
          <a:noFill/>
        </p:spPr>
        <p:txBody>
          <a:bodyPr wrap="square">
            <a:spAutoFit/>
          </a:bodyPr>
          <a:lstStyle/>
          <a:p>
            <a:pPr algn="ctr"/>
            <a:r>
              <a:rPr sz="5600" b="1" i="0">
                <a:solidFill>
                  <a:srgbClr val="FFFFFF"/>
                </a:solidFill>
                <a:latin typeface="Calibri"/>
              </a:rPr>
              <a:t>IF  →  HOW MUCH</a:t>
            </a:r>
          </a:p>
        </p:txBody>
      </p:sp>
      <p:sp>
        <p:nvSpPr>
          <p:cNvPr id="5" name="TextBox 4"/>
          <p:cNvSpPr txBox="1"/>
          <p:nvPr/>
        </p:nvSpPr>
        <p:spPr>
          <a:xfrm>
            <a:off x="1097280" y="3749039"/>
            <a:ext cx="9997135" cy="1371600"/>
          </a:xfrm>
          <a:prstGeom prst="rect">
            <a:avLst/>
          </a:prstGeom>
          <a:noFill/>
        </p:spPr>
        <p:txBody>
          <a:bodyPr wrap="square">
            <a:spAutoFit/>
          </a:bodyPr>
          <a:lstStyle/>
          <a:p>
            <a:pPr algn="ctr"/>
            <a:r>
              <a:rPr sz="2200" b="0" i="1">
                <a:solidFill>
                  <a:srgbClr val="CFE3EA"/>
                </a:solidFill>
                <a:latin typeface="Calibri"/>
              </a:rPr>
              <a:t>A field test tells a patient if they're infected.</a:t>
            </a:r>
            <a:br/>
            <a:r>
              <a:t>We're designing the one that tells them whether they're getting better — or worse.</a:t>
            </a:r>
          </a:p>
        </p:txBody>
      </p:sp>
      <p:sp>
        <p:nvSpPr>
          <p:cNvPr id="6" name="TextBox 5"/>
          <p:cNvSpPr txBox="1"/>
          <p:nvPr/>
        </p:nvSpPr>
        <p:spPr>
          <a:xfrm>
            <a:off x="10820095" y="6355080"/>
            <a:ext cx="1005840" cy="365760"/>
          </a:xfrm>
          <a:prstGeom prst="rect">
            <a:avLst/>
          </a:prstGeom>
          <a:noFill/>
        </p:spPr>
        <p:txBody>
          <a:bodyPr wrap="square">
            <a:spAutoFit/>
          </a:bodyPr>
          <a:lstStyle/>
          <a:p>
            <a:pPr algn="r"/>
            <a:r>
              <a:rPr sz="1100" b="0" i="0">
                <a:solidFill>
                  <a:srgbClr val="9FB3C0"/>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